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B1F23"/>
                </a:solidFill>
              </a:rPr>
              <a:t>Yapay Zeka, Python ve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B1F23"/>
                </a:solidFill>
              </a:rPr>
              <a:t>Makine Öğrenmesine Giriş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770"/>
                </a:solidFill>
              </a:rPr>
              <a:t>30 dakikalık, herkes için anlaşılır workshop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1417320" cy="384048"/>
          </a:xfrm>
          <a:prstGeom prst="rect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≠ sihir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48840" y="2788920"/>
            <a:ext cx="160020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= araç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13632" y="2788920"/>
            <a:ext cx="2057400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= desen öğrenme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86868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dirty="0">
                <a:solidFill>
                  <a:srgbClr val="000000"/>
                </a:solidFill>
              </a:rPr>
              <a:t>🤖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7543800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🐍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9601200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🌲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4983480"/>
            <a:ext cx="7635240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Bugünkü hedef: kavramları netleştirmek, araçları tanımak ve Random Forest’ı sezgisel olarak anlamak.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Bugünün rotası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30 dakika içinde kavram → araç → model → değerlendirme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nedir / ne değildir?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98448" y="1673352"/>
            <a:ext cx="667512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1417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2140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nerede durur?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90088" y="1673352"/>
            <a:ext cx="667512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14173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137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1304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Paketler: sklearn, TensorFlow, PyTorch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1673352"/>
            <a:ext cx="667512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06440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301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0468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Modeller: klasik ML ve deep learning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1673352"/>
            <a:ext cx="667512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4173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9632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Forest: biraz daha detay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65008" y="1673352"/>
            <a:ext cx="667512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1417320"/>
            <a:ext cx="502920" cy="5029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1517904"/>
            <a:ext cx="4297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87968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 ve demo akışı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069080"/>
            <a:ext cx="9784080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 kısa tutuldu: her slayt konuşmayı açmak için var, tüm teknik detayları boğmak için değil.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 nedir, ne değildir?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En kısa tanım: veriden desen öğrenip yeni durumlar için tahmin/öneri üreten sistemler.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9728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NEDİR?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17320" cy="1417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29384"/>
            <a:ext cx="134416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Öğrenir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veriden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1828800"/>
            <a:ext cx="1417320" cy="1417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929384"/>
            <a:ext cx="134416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Tahmin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eder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417320" cy="1417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929384"/>
            <a:ext cx="134416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Karar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destekler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1325880"/>
            <a:ext cx="164592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DEĞİLDİR?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4023360" cy="429768"/>
          </a:xfrm>
          <a:prstGeom prst="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şeyi bilen bilinçli varlık değildir.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2514600"/>
            <a:ext cx="4023360" cy="429768"/>
          </a:xfrm>
          <a:prstGeom prst="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kötü ise güvenilir sonuç beklenmez.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200400"/>
            <a:ext cx="4023360" cy="429768"/>
          </a:xfrm>
          <a:prstGeom prst="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Yanlış problem tanımı varsa “doğru model” kurtarmaz.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9966960" cy="640080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Pratik bakış: AI bir “otomatik akıl” değil; iyi tanımlanmış veri + hedef + model + değerlendirme sürecidir.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AI, ML, Deep Learning ve Generative AI ilişkisi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Bunlar rakip değil; çoğu zaman iç içe geçmiş katmanlar.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9875520" cy="749808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türlü “akıllı” davranış hedefi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286000"/>
            <a:ext cx="8595360" cy="749808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Kuralları elle yazmak yerine veriden öğrenme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68880" y="3246120"/>
            <a:ext cx="7223760" cy="749808"/>
          </a:xfrm>
          <a:prstGeom prst="rect">
            <a:avLst/>
          </a:prstGeom>
          <a:solidFill>
            <a:srgbClr val="F3E8FF"/>
          </a:solidFill>
          <a:ln>
            <a:solidFill>
              <a:srgbClr val="F3E8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katmanlı neural network’ler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4206240"/>
            <a:ext cx="5760720" cy="749808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Metin, görsel, kod, molekül gibi yeni içerik üretme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bir molekülün aktif/pasif olduğunu tahmin etmek ML; yeni molekül önermek generative AI olabilir.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nedir?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Python, “modelin kendisi” değil; veriyi işlemek, modeli çağırmak ve sonucu üretmek için kullandığımız dildir.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828800" cy="594360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43584" y="21762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🐍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0" y="1508760"/>
            <a:ext cx="1234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okuma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5192" y="1920240"/>
            <a:ext cx="3840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0" y="1508760"/>
            <a:ext cx="1234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Temizleme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93992" y="1920240"/>
            <a:ext cx="3840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1508760"/>
            <a:ext cx="1234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22792" y="1920240"/>
            <a:ext cx="3840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0" y="1508760"/>
            <a:ext cx="1234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Tahmin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rapor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10058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Okunabilir syntax: hızlı prototipleme için avantajlıdır.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Ekosistem geniştir: veri, ML, DL, görselleştirme paketleri çok güçlüdür.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Performans kritik yerlerde C/C++/CUDA altyapılarını paketler üzerinden kullanır.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Python’un farkı nedir?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Python genellikle en hızlı çalışan dil değil; en hızlı üretim yapılan dillerden biridir.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645920" cy="384048"/>
          </a:xfrm>
          <a:prstGeom prst="rect">
            <a:avLst/>
          </a:prstGeom>
          <a:solidFill>
            <a:srgbClr val="163A7A"/>
          </a:solidFill>
          <a:ln>
            <a:solidFill>
              <a:srgbClr val="163A7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1417320"/>
            <a:ext cx="2926080" cy="384048"/>
          </a:xfrm>
          <a:prstGeom prst="rect">
            <a:avLst/>
          </a:prstGeom>
          <a:solidFill>
            <a:srgbClr val="163A7A"/>
          </a:solidFill>
          <a:ln>
            <a:solidFill>
              <a:srgbClr val="163A7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Nerede güçlü?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1417320"/>
            <a:ext cx="5074920" cy="384048"/>
          </a:xfrm>
          <a:prstGeom prst="rect">
            <a:avLst/>
          </a:prstGeom>
          <a:solidFill>
            <a:srgbClr val="163A7A"/>
          </a:solidFill>
          <a:ln>
            <a:solidFill>
              <a:srgbClr val="163A7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açısından yorum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984248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198424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AI/ML, veri analizi, otomasyon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984248"/>
            <a:ext cx="5074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Okunabilir + paket ekosistemi çok güçlü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642616"/>
            <a:ext cx="1645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642616"/>
            <a:ext cx="2926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İstatistik ve akademik analiz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642616"/>
            <a:ext cx="5074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İstatistik paketleri ve raporlama güçlü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300984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300984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ve arayüz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3300984"/>
            <a:ext cx="5074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Tarayıcıda çalışır; front-end standardı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959352"/>
            <a:ext cx="1645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C++/CUDA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3959352"/>
            <a:ext cx="2926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Yüksek performans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3959352"/>
            <a:ext cx="5074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kütüphanelerin motor kısmında kullanılır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10012680" cy="502920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Özet: Python’u güçlü yapan şey tek başına dil değil; NumPy, pandas, scikit-learn, TensorFlow, PyTorch gibi ekosistemdir.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 ML projesinin standart akışı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Model sadece ortadaki bir parçadır; başarı çoğu zaman veri ve değerlendirmeden gelir.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tanımı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67128" y="2267712"/>
            <a:ext cx="34747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6032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41648" y="2267712"/>
            <a:ext cx="34747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3484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16168" y="2267712"/>
            <a:ext cx="34747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eğitimi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90688" y="2267712"/>
            <a:ext cx="34747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65208" y="2267712"/>
            <a:ext cx="34747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0" y="1828800"/>
            <a:ext cx="14173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Kayıt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kullanım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10241280" cy="685800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kodlarımız bu zinciri otomatikleştiriyor: veriyi oku → modelleri train et → CV metrikleri → model kaydı → tahmin kaydı → SHAP/LIME/görseller.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paket haritası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Paket = hazır fonksiyon ve model kütüphanesi. Python’un AI gücü buradan gelir.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5544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13432" y="2313432"/>
            <a:ext cx="2468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1325880"/>
            <a:ext cx="1554480" cy="347472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Klasik 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18288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/ LightGBM / CatBoost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62272" y="2313432"/>
            <a:ext cx="2468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1554480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TensorFlow / Keras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313432"/>
            <a:ext cx="2468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132320" y="1325880"/>
            <a:ext cx="1554480" cy="347472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Yorumlama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59952" y="2313432"/>
            <a:ext cx="24688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281160" y="1325880"/>
            <a:ext cx="1554480" cy="347472"/>
          </a:xfrm>
          <a:prstGeom prst="rect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18288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LazyPredict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AutoGluon / AutoKeras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956048"/>
            <a:ext cx="10241280" cy="548640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Kural: önce basit ve güvenilir paketlerle başla; problem gerçekten gerektiriyorsa daha ağır deep learning/AutoML araçlarına geç.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scikit-learn: klasik ML’in omurgası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Küçük/orta ölçekli tabular veride genellikle ilk durak scikit-learn’dür.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sağlar?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train/test split, cross-validation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Logistic Regression, SVM, kNN, RF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Pipeline, scaler, feature selection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ROC, F1, precision, recall gibi metrikler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zaman?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Tabular veri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Moleküler descriptor/fingerprint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Hızlı benchmark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Açıklanabilir baseline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Workshop ve eğitim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983480"/>
            <a:ext cx="9875520" cy="548640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İyi pratik: önce scikit-learn ile güçlü baseline kur; deep learning’e geçmeden önce “basit model ne kadar iyi?” sorusunu cevapla.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TensorFlow, PyTorch, Keras ve AutoML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Derin öğrenmede amaç sadece model seçmek değil; mimari, eğitim ve donanım yönetmektir.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82880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0" y="1417320"/>
            <a:ext cx="7818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Uçtan uca ML/DL platformu; üretim ve deployment ekosistemi güçlü.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75688"/>
            <a:ext cx="1828800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075688"/>
            <a:ext cx="7818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Araştırma ve deney için esnek; neural network yazımı sezgiseldir.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734056"/>
            <a:ext cx="1828800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734056"/>
            <a:ext cx="7818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 kurmayı sadeleştiren yüksek seviye API.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1828800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AutoGluon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3392424"/>
            <a:ext cx="7818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Tabular/veri odaklı AutoML; birçok modeli otomatik dener.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050792"/>
            <a:ext cx="1828800" cy="384048"/>
          </a:xfrm>
          <a:prstGeom prst="rect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AutoKeras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1800" y="4050792"/>
            <a:ext cx="7818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mimarilerini otomatik arar.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148072"/>
            <a:ext cx="10195560" cy="530352"/>
          </a:xfrm>
          <a:prstGeom prst="rect">
            <a:avLst/>
          </a:prstGeom>
          <a:solidFill>
            <a:srgbClr val="F3E8FF"/>
          </a:solidFill>
          <a:ln>
            <a:solidFill>
              <a:srgbClr val="F3E8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Pratik ayrım: scikit-learn çoğu klasik ML işi için yeterlidir; TensorFlow/PyTorch daha çok neural network ve büyük veri/görüntü/metin problemlerinde öne çıkar.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isimleri: tek cümlelik harita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Bir model ailesini bilmek, hangi problemde deneneceğini seçmeyi kolaylaştırır.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— Basit ve güçlü lineer sınıflandırma baseline’ı.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 — Benzer örneklere bakarak tahmin yapar.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— Sınıflar arasında iyi ayırıcı sınır arar.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Bayes — Olasılık varsayımlarıyla hızlı baseline üretir.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— Karar kurallarıyla dallanan ağaç modelidir.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— Birçok ağacın oylamasıyla daha stabil tahmin yapar.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263640" y="12344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— Hataları sırayla düzelten güçlü ağaç ensemble’ı.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/ LightGBM / CatBoost — Tabular veride çok güçlü boosting aileleri.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— Tam bağlı neural network.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— Görüntü ve grid-benzeri veride güçlüdür.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5349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/ LSTM / GRU — Sıralı veriler için klasik neural modeller.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263640" y="3520440"/>
            <a:ext cx="5349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— Dikkat mekanizmasıyla metin, görsel ve çoklu modalitede güçlüdür.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1024128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DL aileleri: Autoencoder = sıkıştırma/temsil öğrenme; GAN = üretici-yarışmacı yapı; Diffusion = gürültüden örnek üretme; GNN = graf yapısında öğrenme.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Forest: neden seviyoruz?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RF, workshop için çok iyi bir modeldir: güçlü, sezgisel, az ayarla çalışan ve tabular veride güvenilir.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1234440" cy="1234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63624"/>
            <a:ext cx="116128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çok ağaç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1234440" cy="1234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1563624"/>
            <a:ext cx="116128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🗳️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oylama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234440" cy="1234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563624"/>
            <a:ext cx="116128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feature seçimi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1234440" cy="1234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563624"/>
            <a:ext cx="116128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🛡️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robust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1325880"/>
            <a:ext cx="210312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fikir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1874520"/>
            <a:ext cx="3063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bir karar ağacı overfit olabilir; Random Forest çok sayıda ağacı farklı veri ve feature alt-kümeleriyle eğitir, sonra sonuçları birleştirir.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864608"/>
            <a:ext cx="10058400" cy="566928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Avantaj: genellikle scaling istemez, nonlinear ilişkileri yakalar, feature importance verir ve güçlü baseline olarak hızlı sonuç üretir.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nasıl çalışır?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Aynı probleme farklı açılardan bakan çok sayıda ağaç → daha dengeli karar.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874520" cy="402336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Bootstrap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Veriden rastgele örnekler çekilir; her ağaç biraz farklı veri görür.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34640" y="205740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1325880"/>
            <a:ext cx="1874520" cy="402336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Random feature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split’te tüm feature’lar değil, rastgele bir alt-küme denenir.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0" y="205740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126480" y="1325880"/>
            <a:ext cx="1874520" cy="402336"/>
          </a:xfrm>
          <a:prstGeom prst="rect">
            <a:avLst/>
          </a:prstGeom>
          <a:solidFill>
            <a:srgbClr val="F3E8FF"/>
          </a:solidFill>
          <a:ln>
            <a:solidFill>
              <a:srgbClr val="F3E8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Ağaçlar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187452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sayıda decision tree paralel olarak eğitilir.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778240" y="1325880"/>
            <a:ext cx="187452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Oylama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2520" y="187452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Sınıflandırmada çoğunluk oyu veya olasılık ortalaması alınır.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10012680" cy="566928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Molecular ML’de pratik mesaj: RF, MACCS/Morgan fingerprint gibi yüksek boyutlu binary feature’larda çoğu zaman “ilk güvenilir benchmark”tır.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Metrikler: model iyi mi?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Tek metrik yetmez; özellikle dengesiz sınıflarda Accuracy yanıltabilir.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1481328" cy="329184"/>
          </a:xfrm>
          <a:prstGeom prst="rect">
            <a:avLst/>
          </a:prstGeom>
          <a:solidFill>
            <a:srgbClr val="334155"/>
          </a:solidFill>
          <a:ln>
            <a:solidFill>
              <a:srgbClr val="33415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doğru oranı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1371600"/>
            <a:ext cx="148132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84708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 dediklerimin kaçı doğru?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1371600"/>
            <a:ext cx="1481328" cy="329184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84708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pozitiflerin kaçını yakaladım?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91640" y="3154680"/>
            <a:ext cx="1481328" cy="329184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63016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Precision–Recall dengesi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154680"/>
            <a:ext cx="1481328" cy="329184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63016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Eşiklerden bağımsız ayrım gücü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0680" y="3154680"/>
            <a:ext cx="1481328" cy="329184"/>
          </a:xfrm>
          <a:prstGeom prst="rect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630168"/>
            <a:ext cx="14813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 sınıf odaklı PR alanı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çıktısı ideal olarak şu formatta olur: mean ± SD, 5-fold CV, ardından test set veya external set üzerinde doğrulama.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demosu: neyi otomatikleştiriyoruz?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Amaç: tek dosya değiştirerek veri → model → metrik → yorumlama akışını çalıştırmak.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600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ChEMBL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verisi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542032" y="1920240"/>
            <a:ext cx="3383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17520" y="1508760"/>
            <a:ext cx="1600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Fingerprint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MACCS/Morgan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90872" y="1920240"/>
            <a:ext cx="3383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66360" y="1508760"/>
            <a:ext cx="1600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39712" y="1920240"/>
            <a:ext cx="3383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1508760"/>
            <a:ext cx="1600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Tahmin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kaydı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88552" y="1920240"/>
            <a:ext cx="3383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64040" y="1508760"/>
            <a:ext cx="1600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SHAP/LIME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görsel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 script ailesi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94760"/>
            <a:ext cx="9601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01_multimodel_classification_benchmark.py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02_rf_vs_rf_pipeline_anova.py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03_fetch_prepare_chembl_target_dataset.py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11_shap_beeswarm_bar_dependence.py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15_lazypredict_automated_benchmark.py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Kapanış: 6 mesaj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Bu 30 dakikanın sonunda akılda kalması gerekenler.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2057400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sihir değil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1188720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+ hedef + model + değerlendirme süreci.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2057400" cy="329184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araçtır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847088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Asıl güç paket ekosisteminden gelir.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505456"/>
            <a:ext cx="2057400" cy="329184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Basitten başla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505456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 baseline çoğu zaman ilk adımdır.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163824"/>
            <a:ext cx="2057400" cy="329184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güçlü baseline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3163824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gerektirmeden iyi performans verebilir.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22192"/>
            <a:ext cx="2057400" cy="329184"/>
          </a:xfrm>
          <a:prstGeom prst="rect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şart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3822192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tek başına yeterli değildir.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2057400" cy="329184"/>
          </a:xfrm>
          <a:prstGeom prst="rect">
            <a:avLst/>
          </a:prstGeom>
          <a:solidFill>
            <a:srgbClr val="334155"/>
          </a:solidFill>
          <a:ln>
            <a:solidFill>
              <a:srgbClr val="33415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Kaydet ve yorumla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480560"/>
            <a:ext cx="7635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Model, tahmin ve SHAP/LIME çıktısı arşivlenmelidir.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 adım: aynı veriyi klasik ML, AutoML ve SHAP/LIME ile çalıştırıp sonuçları tek tabloda karşılaştırmak.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7A">
              <a:alpha val="92000"/>
            </a:srgbClr>
          </a:solidFill>
          <a:ln w="12700">
            <a:solidFill>
              <a:srgbClr val="163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Kaynaklar ve paket dokümantasyonları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770"/>
                </a:solidFill>
              </a:rPr>
              <a:t>Sunumun teknik tanımları resmi dokümantasyon çizgisine göre özetlenmiştir.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10149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Python: python.org — “What is Python?” ve Language Reference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scikit-learn: scikit-learn.org — “Machine Learning in Python”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TensorFlow: tensorflow.org — end-to-end open-source ML platform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PyTorch: pytorch.org — open-source deep learning framework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1F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Keras / AutoKeras / AutoGluon / LazyPredict: proje dokümantasyonları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F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Bu slayt anlatımda atlanabilir; materyal paylaşımı için eklendi.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67160" y="66019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Zeka, Python ve Makine Öğrenmesine Giriş</dc:title>
  <dc:subject>AI, Python, ML/DL workshop</dc:subject>
  <dc:creator>OpenAI</dc:creator>
  <cp:lastModifiedBy>OpenAI</cp:lastModifiedBy>
  <cp:revision>1</cp:revision>
  <dcterms:created xsi:type="dcterms:W3CDTF">2026-07-08T07:33:52Z</dcterms:created>
  <dcterms:modified xsi:type="dcterms:W3CDTF">2026-07-08T07:33:52Z</dcterms:modified>
</cp:coreProperties>
</file>